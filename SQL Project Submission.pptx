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Lst>
  <p:sldSz cy="5143500" cx="9144000"/>
  <p:notesSz cx="6858000" cy="9144000"/>
  <p:embeddedFontLst>
    <p:embeddedFont>
      <p:font typeface="Open Sans"/>
      <p:regular r:id="rId11"/>
      <p:bold r:id="rId12"/>
      <p:italic r:id="rId13"/>
      <p:bold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OpenSans-regular.fntdata"/><Relationship Id="rId10" Type="http://schemas.openxmlformats.org/officeDocument/2006/relationships/slide" Target="slides/slide4.xml"/><Relationship Id="rId13" Type="http://schemas.openxmlformats.org/officeDocument/2006/relationships/font" Target="fonts/OpenSans-italic.fntdata"/><Relationship Id="rId12" Type="http://schemas.openxmlformats.org/officeDocument/2006/relationships/font" Target="fonts/OpenSans-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font" Target="fonts/OpenSans-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335dc27ef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Query 1</a:t>
            </a:r>
            <a:endParaRPr/>
          </a:p>
        </p:txBody>
      </p:sp>
      <p:sp>
        <p:nvSpPr>
          <p:cNvPr id="97" name="Google Shape;97;g1335dc27ef7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1335dc27ef7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1335dc27ef7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Query 2</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1335dc27ef7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1335dc27ef7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Query 3</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1335dc27ef7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1335dc27ef7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Query 4</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p:nvPr/>
        </p:nvSpPr>
        <p:spPr>
          <a:xfrm>
            <a:off x="0" y="0"/>
            <a:ext cx="9144000" cy="754500"/>
          </a:xfrm>
          <a:prstGeom prst="rect">
            <a:avLst/>
          </a:prstGeom>
          <a:solidFill>
            <a:srgbClr val="051E41"/>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0" name="Google Shape;100;p25"/>
          <p:cNvSpPr txBox="1"/>
          <p:nvPr/>
        </p:nvSpPr>
        <p:spPr>
          <a:xfrm>
            <a:off x="365760" y="102870"/>
            <a:ext cx="8229600" cy="538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 sz="2900">
                <a:solidFill>
                  <a:schemeClr val="lt1"/>
                </a:solidFill>
                <a:latin typeface="Calibri"/>
                <a:ea typeface="Calibri"/>
                <a:cs typeface="Calibri"/>
                <a:sym typeface="Calibri"/>
              </a:rPr>
              <a:t>Which family movie categories are rented the most?</a:t>
            </a:r>
            <a:endParaRPr sz="1900">
              <a:solidFill>
                <a:schemeClr val="lt1"/>
              </a:solidFill>
            </a:endParaRPr>
          </a:p>
        </p:txBody>
      </p:sp>
      <p:sp>
        <p:nvSpPr>
          <p:cNvPr id="101" name="Google Shape;101;p25"/>
          <p:cNvSpPr/>
          <p:nvPr/>
        </p:nvSpPr>
        <p:spPr>
          <a:xfrm>
            <a:off x="365760" y="788670"/>
            <a:ext cx="1645800" cy="34200"/>
          </a:xfrm>
          <a:prstGeom prst="rect">
            <a:avLst/>
          </a:prstGeom>
          <a:solidFill>
            <a:srgbClr val="0078D7"/>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2" name="Google Shape;102;p25"/>
          <p:cNvSpPr txBox="1"/>
          <p:nvPr/>
        </p:nvSpPr>
        <p:spPr>
          <a:xfrm>
            <a:off x="365760" y="1645920"/>
            <a:ext cx="2286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800" u="none" cap="none" strike="noStrike">
                <a:solidFill>
                  <a:srgbClr val="282828"/>
                </a:solidFill>
                <a:latin typeface="Calibri"/>
                <a:ea typeface="Calibri"/>
                <a:cs typeface="Calibri"/>
                <a:sym typeface="Calibri"/>
              </a:rPr>
              <a:t>Animation</a:t>
            </a:r>
            <a:endParaRPr/>
          </a:p>
        </p:txBody>
      </p:sp>
      <p:sp>
        <p:nvSpPr>
          <p:cNvPr id="103" name="Google Shape;103;p25"/>
          <p:cNvSpPr/>
          <p:nvPr/>
        </p:nvSpPr>
        <p:spPr>
          <a:xfrm>
            <a:off x="2377440" y="1645920"/>
            <a:ext cx="5029200" cy="260700"/>
          </a:xfrm>
          <a:prstGeom prst="rect">
            <a:avLst/>
          </a:prstGeom>
          <a:solidFill>
            <a:srgbClr val="0078D7"/>
          </a:solidFill>
          <a:ln cap="flat" cmpd="sng" w="9525">
            <a:solidFill>
              <a:srgbClr val="FFFFF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4" name="Google Shape;104;p25"/>
          <p:cNvSpPr txBox="1"/>
          <p:nvPr/>
        </p:nvSpPr>
        <p:spPr>
          <a:xfrm>
            <a:off x="7543800" y="1645920"/>
            <a:ext cx="13716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600" u="none" cap="none" strike="noStrike">
                <a:solidFill>
                  <a:srgbClr val="051E41"/>
                </a:solidFill>
                <a:latin typeface="Calibri"/>
                <a:ea typeface="Calibri"/>
                <a:cs typeface="Calibri"/>
                <a:sym typeface="Calibri"/>
              </a:rPr>
              <a:t>1166</a:t>
            </a:r>
            <a:endParaRPr/>
          </a:p>
        </p:txBody>
      </p:sp>
      <p:sp>
        <p:nvSpPr>
          <p:cNvPr id="105" name="Google Shape;105;p25"/>
          <p:cNvSpPr txBox="1"/>
          <p:nvPr/>
        </p:nvSpPr>
        <p:spPr>
          <a:xfrm>
            <a:off x="365760" y="2057400"/>
            <a:ext cx="2286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800" u="none" cap="none" strike="noStrike">
                <a:solidFill>
                  <a:srgbClr val="282828"/>
                </a:solidFill>
                <a:latin typeface="Calibri"/>
                <a:ea typeface="Calibri"/>
                <a:cs typeface="Calibri"/>
                <a:sym typeface="Calibri"/>
              </a:rPr>
              <a:t>Family</a:t>
            </a:r>
            <a:endParaRPr/>
          </a:p>
        </p:txBody>
      </p:sp>
      <p:sp>
        <p:nvSpPr>
          <p:cNvPr id="106" name="Google Shape;106;p25"/>
          <p:cNvSpPr/>
          <p:nvPr/>
        </p:nvSpPr>
        <p:spPr>
          <a:xfrm>
            <a:off x="2377440" y="2057400"/>
            <a:ext cx="4727400" cy="260700"/>
          </a:xfrm>
          <a:prstGeom prst="rect">
            <a:avLst/>
          </a:prstGeom>
          <a:solidFill>
            <a:srgbClr val="0099BC"/>
          </a:solidFill>
          <a:ln cap="flat" cmpd="sng" w="9525">
            <a:solidFill>
              <a:srgbClr val="FFFFF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7" name="Google Shape;107;p25"/>
          <p:cNvSpPr txBox="1"/>
          <p:nvPr/>
        </p:nvSpPr>
        <p:spPr>
          <a:xfrm>
            <a:off x="7241875" y="2057400"/>
            <a:ext cx="13716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600" u="none" cap="none" strike="noStrike">
                <a:solidFill>
                  <a:srgbClr val="051E41"/>
                </a:solidFill>
                <a:latin typeface="Calibri"/>
                <a:ea typeface="Calibri"/>
                <a:cs typeface="Calibri"/>
                <a:sym typeface="Calibri"/>
              </a:rPr>
              <a:t>1096</a:t>
            </a:r>
            <a:endParaRPr/>
          </a:p>
        </p:txBody>
      </p:sp>
      <p:sp>
        <p:nvSpPr>
          <p:cNvPr id="108" name="Google Shape;108;p25"/>
          <p:cNvSpPr txBox="1"/>
          <p:nvPr/>
        </p:nvSpPr>
        <p:spPr>
          <a:xfrm>
            <a:off x="365760" y="2468880"/>
            <a:ext cx="2286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800" u="none" cap="none" strike="noStrike">
                <a:solidFill>
                  <a:srgbClr val="282828"/>
                </a:solidFill>
                <a:latin typeface="Calibri"/>
                <a:ea typeface="Calibri"/>
                <a:cs typeface="Calibri"/>
                <a:sym typeface="Calibri"/>
              </a:rPr>
              <a:t>Children</a:t>
            </a:r>
            <a:endParaRPr/>
          </a:p>
        </p:txBody>
      </p:sp>
      <p:sp>
        <p:nvSpPr>
          <p:cNvPr id="109" name="Google Shape;109;p25"/>
          <p:cNvSpPr/>
          <p:nvPr/>
        </p:nvSpPr>
        <p:spPr>
          <a:xfrm>
            <a:off x="2377440" y="2468880"/>
            <a:ext cx="4076100" cy="260700"/>
          </a:xfrm>
          <a:prstGeom prst="rect">
            <a:avLst/>
          </a:prstGeom>
          <a:solidFill>
            <a:srgbClr val="6699CC"/>
          </a:solidFill>
          <a:ln cap="flat" cmpd="sng" w="9525">
            <a:solidFill>
              <a:srgbClr val="FFFFF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0" name="Google Shape;110;p25"/>
          <p:cNvSpPr txBox="1"/>
          <p:nvPr/>
        </p:nvSpPr>
        <p:spPr>
          <a:xfrm>
            <a:off x="6590581" y="2468880"/>
            <a:ext cx="13716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600" u="none" cap="none" strike="noStrike">
                <a:solidFill>
                  <a:srgbClr val="051E41"/>
                </a:solidFill>
                <a:latin typeface="Calibri"/>
                <a:ea typeface="Calibri"/>
                <a:cs typeface="Calibri"/>
                <a:sym typeface="Calibri"/>
              </a:rPr>
              <a:t>945</a:t>
            </a:r>
            <a:endParaRPr/>
          </a:p>
        </p:txBody>
      </p:sp>
      <p:sp>
        <p:nvSpPr>
          <p:cNvPr id="111" name="Google Shape;111;p25"/>
          <p:cNvSpPr txBox="1"/>
          <p:nvPr/>
        </p:nvSpPr>
        <p:spPr>
          <a:xfrm>
            <a:off x="365760" y="2880360"/>
            <a:ext cx="2286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800" u="none" cap="none" strike="noStrike">
                <a:solidFill>
                  <a:srgbClr val="282828"/>
                </a:solidFill>
                <a:latin typeface="Calibri"/>
                <a:ea typeface="Calibri"/>
                <a:cs typeface="Calibri"/>
                <a:sym typeface="Calibri"/>
              </a:rPr>
              <a:t>Comedy</a:t>
            </a:r>
            <a:endParaRPr/>
          </a:p>
        </p:txBody>
      </p:sp>
      <p:sp>
        <p:nvSpPr>
          <p:cNvPr id="112" name="Google Shape;112;p25"/>
          <p:cNvSpPr/>
          <p:nvPr/>
        </p:nvSpPr>
        <p:spPr>
          <a:xfrm>
            <a:off x="2377440" y="2880360"/>
            <a:ext cx="4058700" cy="260700"/>
          </a:xfrm>
          <a:prstGeom prst="rect">
            <a:avLst/>
          </a:prstGeom>
          <a:solidFill>
            <a:srgbClr val="505050"/>
          </a:solidFill>
          <a:ln cap="flat" cmpd="sng" w="9525">
            <a:solidFill>
              <a:srgbClr val="FFFFF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3" name="Google Shape;113;p25"/>
          <p:cNvSpPr txBox="1"/>
          <p:nvPr/>
        </p:nvSpPr>
        <p:spPr>
          <a:xfrm>
            <a:off x="6573328" y="2880360"/>
            <a:ext cx="13716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600" u="none" cap="none" strike="noStrike">
                <a:solidFill>
                  <a:srgbClr val="051E41"/>
                </a:solidFill>
                <a:latin typeface="Calibri"/>
                <a:ea typeface="Calibri"/>
                <a:cs typeface="Calibri"/>
                <a:sym typeface="Calibri"/>
              </a:rPr>
              <a:t>941</a:t>
            </a:r>
            <a:endParaRPr/>
          </a:p>
        </p:txBody>
      </p:sp>
      <p:sp>
        <p:nvSpPr>
          <p:cNvPr id="114" name="Google Shape;114;p25"/>
          <p:cNvSpPr txBox="1"/>
          <p:nvPr/>
        </p:nvSpPr>
        <p:spPr>
          <a:xfrm>
            <a:off x="365760" y="3291840"/>
            <a:ext cx="2286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800" u="none" cap="none" strike="noStrike">
                <a:solidFill>
                  <a:srgbClr val="282828"/>
                </a:solidFill>
                <a:latin typeface="Calibri"/>
                <a:ea typeface="Calibri"/>
                <a:cs typeface="Calibri"/>
                <a:sym typeface="Calibri"/>
              </a:rPr>
              <a:t>Classics</a:t>
            </a:r>
            <a:endParaRPr/>
          </a:p>
        </p:txBody>
      </p:sp>
      <p:sp>
        <p:nvSpPr>
          <p:cNvPr id="115" name="Google Shape;115;p25"/>
          <p:cNvSpPr/>
          <p:nvPr/>
        </p:nvSpPr>
        <p:spPr>
          <a:xfrm>
            <a:off x="2377440" y="3291840"/>
            <a:ext cx="4050000" cy="260700"/>
          </a:xfrm>
          <a:prstGeom prst="rect">
            <a:avLst/>
          </a:prstGeom>
          <a:solidFill>
            <a:srgbClr val="B4B4B4"/>
          </a:solidFill>
          <a:ln cap="flat" cmpd="sng" w="9525">
            <a:solidFill>
              <a:srgbClr val="FFFFF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6" name="Google Shape;116;p25"/>
          <p:cNvSpPr txBox="1"/>
          <p:nvPr/>
        </p:nvSpPr>
        <p:spPr>
          <a:xfrm>
            <a:off x="6564701" y="3291840"/>
            <a:ext cx="13716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600" u="none" cap="none" strike="noStrike">
                <a:solidFill>
                  <a:srgbClr val="051E41"/>
                </a:solidFill>
                <a:latin typeface="Calibri"/>
                <a:ea typeface="Calibri"/>
                <a:cs typeface="Calibri"/>
                <a:sym typeface="Calibri"/>
              </a:rPr>
              <a:t>939</a:t>
            </a:r>
            <a:endParaRPr/>
          </a:p>
        </p:txBody>
      </p:sp>
      <p:sp>
        <p:nvSpPr>
          <p:cNvPr id="117" name="Google Shape;117;p25"/>
          <p:cNvSpPr txBox="1"/>
          <p:nvPr/>
        </p:nvSpPr>
        <p:spPr>
          <a:xfrm>
            <a:off x="365760" y="3703319"/>
            <a:ext cx="2286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800" u="none" cap="none" strike="noStrike">
                <a:solidFill>
                  <a:srgbClr val="282828"/>
                </a:solidFill>
                <a:latin typeface="Calibri"/>
                <a:ea typeface="Calibri"/>
                <a:cs typeface="Calibri"/>
                <a:sym typeface="Calibri"/>
              </a:rPr>
              <a:t>Music</a:t>
            </a:r>
            <a:endParaRPr/>
          </a:p>
        </p:txBody>
      </p:sp>
      <p:sp>
        <p:nvSpPr>
          <p:cNvPr id="118" name="Google Shape;118;p25"/>
          <p:cNvSpPr/>
          <p:nvPr/>
        </p:nvSpPr>
        <p:spPr>
          <a:xfrm>
            <a:off x="2377440" y="3703319"/>
            <a:ext cx="3579900" cy="260700"/>
          </a:xfrm>
          <a:prstGeom prst="rect">
            <a:avLst/>
          </a:prstGeom>
          <a:solidFill>
            <a:srgbClr val="17375E"/>
          </a:solidFill>
          <a:ln cap="flat" cmpd="sng" w="9525">
            <a:solidFill>
              <a:srgbClr val="FFFFF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9" name="Google Shape;119;p25"/>
          <p:cNvSpPr txBox="1"/>
          <p:nvPr/>
        </p:nvSpPr>
        <p:spPr>
          <a:xfrm>
            <a:off x="6094562" y="3703319"/>
            <a:ext cx="13716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600" u="none" cap="none" strike="noStrike">
                <a:solidFill>
                  <a:srgbClr val="051E41"/>
                </a:solidFill>
                <a:latin typeface="Calibri"/>
                <a:ea typeface="Calibri"/>
                <a:cs typeface="Calibri"/>
                <a:sym typeface="Calibri"/>
              </a:rPr>
              <a:t>830</a:t>
            </a:r>
            <a:endParaRPr/>
          </a:p>
        </p:txBody>
      </p:sp>
      <p:sp>
        <p:nvSpPr>
          <p:cNvPr id="120" name="Google Shape;120;p25"/>
          <p:cNvSpPr txBox="1"/>
          <p:nvPr/>
        </p:nvSpPr>
        <p:spPr>
          <a:xfrm>
            <a:off x="480700" y="4114798"/>
            <a:ext cx="7373400" cy="931200"/>
          </a:xfrm>
          <a:prstGeom prst="rect">
            <a:avLst/>
          </a:prstGeom>
          <a:solidFill>
            <a:srgbClr val="D9D9D9"/>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latin typeface="Calibri"/>
                <a:ea typeface="Calibri"/>
                <a:cs typeface="Calibri"/>
                <a:sym typeface="Calibri"/>
              </a:rPr>
              <a:t>The analysis shows that Animation and Family movies are the most frequently rented categories, indicating strong engagement with content that appeals broadly across age groups.</a:t>
            </a:r>
            <a:endParaRPr b="1">
              <a:solidFill>
                <a:schemeClr val="dk1"/>
              </a:solidFill>
              <a:latin typeface="Calibri"/>
              <a:ea typeface="Calibri"/>
              <a:cs typeface="Calibri"/>
              <a:sym typeface="Calibri"/>
            </a:endParaRPr>
          </a:p>
          <a:p>
            <a:pPr indent="0" lvl="0" marL="0" rtl="0" algn="l">
              <a:spcBef>
                <a:spcPts val="1200"/>
              </a:spcBef>
              <a:spcAft>
                <a:spcPts val="0"/>
              </a:spcAft>
              <a:buNone/>
            </a:pPr>
            <a:r>
              <a:t/>
            </a:r>
            <a:endParaRPr sz="2300">
              <a:solidFill>
                <a:schemeClr val="dk1"/>
              </a:solidFill>
              <a:latin typeface="Calibri"/>
              <a:ea typeface="Calibri"/>
              <a:cs typeface="Calibri"/>
              <a:sym typeface="Calibri"/>
            </a:endParaRPr>
          </a:p>
        </p:txBody>
      </p:sp>
      <p:sp>
        <p:nvSpPr>
          <p:cNvPr id="121" name="Google Shape;121;p25"/>
          <p:cNvSpPr txBox="1"/>
          <p:nvPr/>
        </p:nvSpPr>
        <p:spPr>
          <a:xfrm rot="-5400000">
            <a:off x="7146325" y="2841950"/>
            <a:ext cx="2047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1"/>
                </a:solidFill>
                <a:latin typeface="Calibri"/>
                <a:ea typeface="Calibri"/>
                <a:cs typeface="Calibri"/>
                <a:sym typeface="Calibri"/>
              </a:rPr>
              <a:t>number of rented days</a:t>
            </a:r>
            <a:endParaRPr b="1" sz="1500">
              <a:solidFill>
                <a:schemeClr val="dk1"/>
              </a:solidFill>
              <a:latin typeface="Calibri"/>
              <a:ea typeface="Calibri"/>
              <a:cs typeface="Calibri"/>
              <a:sym typeface="Calibri"/>
            </a:endParaRPr>
          </a:p>
        </p:txBody>
      </p:sp>
      <p:sp>
        <p:nvSpPr>
          <p:cNvPr id="122" name="Google Shape;122;p25"/>
          <p:cNvSpPr txBox="1"/>
          <p:nvPr/>
        </p:nvSpPr>
        <p:spPr>
          <a:xfrm>
            <a:off x="1009575" y="1028269"/>
            <a:ext cx="6684000" cy="492600"/>
          </a:xfrm>
          <a:prstGeom prst="rect">
            <a:avLst/>
          </a:prstGeom>
          <a:solidFill>
            <a:srgbClr val="D9D9D9"/>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Calibri"/>
                <a:ea typeface="Calibri"/>
                <a:cs typeface="Calibri"/>
                <a:sym typeface="Calibri"/>
              </a:rPr>
              <a:t>Family Movie Rental Analysis</a:t>
            </a:r>
            <a:endParaRPr b="1" sz="20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6"/>
          <p:cNvSpPr txBox="1"/>
          <p:nvPr>
            <p:ph idx="1" type="body"/>
          </p:nvPr>
        </p:nvSpPr>
        <p:spPr>
          <a:xfrm>
            <a:off x="6335825" y="1243075"/>
            <a:ext cx="2413800" cy="3447900"/>
          </a:xfrm>
          <a:prstGeom prst="rect">
            <a:avLst/>
          </a:prstGeom>
          <a:solidFill>
            <a:srgbClr val="EFEFEF"/>
          </a:solidFill>
          <a:ln cap="flat" cmpd="sng" w="9525">
            <a:solidFill>
              <a:srgbClr val="99999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1200"/>
              </a:spcBef>
              <a:spcAft>
                <a:spcPts val="0"/>
              </a:spcAft>
              <a:buNone/>
            </a:pPr>
            <a:r>
              <a:rPr lang="en">
                <a:solidFill>
                  <a:schemeClr val="dk1"/>
                </a:solidFill>
                <a:latin typeface="Calibri"/>
                <a:ea typeface="Calibri"/>
                <a:cs typeface="Calibri"/>
                <a:sym typeface="Calibri"/>
              </a:rPr>
              <a:t>Most family-friendly movies fall into the shortest rental-duration group (Q1), while fewer appear in the longest group (Q4). The most common categories across all quartiles are Family, Animation, and Children, suggesting these genres drive most of the rental activity.</a:t>
            </a:r>
            <a:endParaRPr>
              <a:solidFill>
                <a:schemeClr val="dk1"/>
              </a:solidFill>
              <a:latin typeface="Calibri"/>
              <a:ea typeface="Calibri"/>
              <a:cs typeface="Calibri"/>
              <a:sym typeface="Calibri"/>
            </a:endParaRPr>
          </a:p>
          <a:p>
            <a:pPr indent="0" lvl="0" marL="0" rtl="0" algn="l">
              <a:spcBef>
                <a:spcPts val="1600"/>
              </a:spcBef>
              <a:spcAft>
                <a:spcPts val="1600"/>
              </a:spcAft>
              <a:buNone/>
            </a:pPr>
            <a:r>
              <a:t/>
            </a:r>
            <a:endParaRPr>
              <a:latin typeface="Open Sans"/>
              <a:ea typeface="Open Sans"/>
              <a:cs typeface="Open Sans"/>
              <a:sym typeface="Open Sans"/>
            </a:endParaRPr>
          </a:p>
        </p:txBody>
      </p:sp>
      <p:sp>
        <p:nvSpPr>
          <p:cNvPr id="128" name="Google Shape;128;p26"/>
          <p:cNvSpPr/>
          <p:nvPr/>
        </p:nvSpPr>
        <p:spPr>
          <a:xfrm>
            <a:off x="354300" y="1418450"/>
            <a:ext cx="4550700" cy="3072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&lt;visualization&gt;</a:t>
            </a:r>
            <a:endParaRPr/>
          </a:p>
        </p:txBody>
      </p:sp>
      <p:sp>
        <p:nvSpPr>
          <p:cNvPr id="129" name="Google Shape;129;p26"/>
          <p:cNvSpPr txBox="1"/>
          <p:nvPr>
            <p:ph type="title"/>
          </p:nvPr>
        </p:nvSpPr>
        <p:spPr>
          <a:xfrm>
            <a:off x="0" y="0"/>
            <a:ext cx="9144000" cy="795600"/>
          </a:xfrm>
          <a:prstGeom prst="rect">
            <a:avLst/>
          </a:prstGeom>
          <a:solidFill>
            <a:srgbClr val="073763"/>
          </a:solidFill>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Open Sans"/>
                <a:ea typeface="Open Sans"/>
                <a:cs typeface="Open Sans"/>
                <a:sym typeface="Open Sans"/>
              </a:rPr>
              <a:t> </a:t>
            </a:r>
            <a:r>
              <a:rPr lang="en" sz="3000">
                <a:solidFill>
                  <a:srgbClr val="FFFFFF"/>
                </a:solidFill>
                <a:latin typeface="Calibri"/>
                <a:ea typeface="Calibri"/>
                <a:cs typeface="Calibri"/>
                <a:sym typeface="Calibri"/>
              </a:rPr>
              <a:t> </a:t>
            </a:r>
            <a:r>
              <a:rPr b="1" lang="en" sz="2422">
                <a:solidFill>
                  <a:schemeClr val="lt1"/>
                </a:solidFill>
                <a:latin typeface="Calibri"/>
                <a:ea typeface="Calibri"/>
                <a:cs typeface="Calibri"/>
                <a:sym typeface="Calibri"/>
              </a:rPr>
              <a:t>How are family-friendly movies distributed across rental quartiles?</a:t>
            </a:r>
            <a:endParaRPr>
              <a:solidFill>
                <a:srgbClr val="FFFFFF"/>
              </a:solidFill>
              <a:latin typeface="Open Sans"/>
              <a:ea typeface="Open Sans"/>
              <a:cs typeface="Open Sans"/>
              <a:sym typeface="Open Sans"/>
            </a:endParaRPr>
          </a:p>
        </p:txBody>
      </p:sp>
      <p:pic>
        <p:nvPicPr>
          <p:cNvPr id="130" name="Google Shape;130;p26" title="final_quarter, first_quarter, second_quarter and third_quarter"/>
          <p:cNvPicPr preferRelativeResize="0"/>
          <p:nvPr/>
        </p:nvPicPr>
        <p:blipFill>
          <a:blip r:embed="rId3">
            <a:alphaModFix/>
          </a:blip>
          <a:stretch>
            <a:fillRect/>
          </a:stretch>
        </p:blipFill>
        <p:spPr>
          <a:xfrm>
            <a:off x="152550" y="1243125"/>
            <a:ext cx="5575998" cy="34478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7"/>
          <p:cNvSpPr txBox="1"/>
          <p:nvPr>
            <p:ph idx="1" type="body"/>
          </p:nvPr>
        </p:nvSpPr>
        <p:spPr>
          <a:xfrm>
            <a:off x="6858000" y="1418450"/>
            <a:ext cx="1891500" cy="3072600"/>
          </a:xfrm>
          <a:prstGeom prst="rect">
            <a:avLst/>
          </a:prstGeom>
          <a:solidFill>
            <a:srgbClr val="EFEFEF"/>
          </a:solidFill>
          <a:ln cap="flat" cmpd="sng" w="9525">
            <a:solidFill>
              <a:srgbClr val="99999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1500">
                <a:solidFill>
                  <a:schemeClr val="dk1"/>
                </a:solidFill>
                <a:latin typeface="Calibri"/>
                <a:ea typeface="Calibri"/>
                <a:cs typeface="Calibri"/>
                <a:sym typeface="Calibri"/>
              </a:rPr>
              <a:t>Most family-friendly movies fall in the shortest rental-duration quartile, but categories like Family and Animation appear heavily across all quartiles, showing stable popularity.</a:t>
            </a:r>
            <a:endParaRPr sz="1500">
              <a:solidFill>
                <a:schemeClr val="dk1"/>
              </a:solidFill>
              <a:latin typeface="Calibri"/>
              <a:ea typeface="Calibri"/>
              <a:cs typeface="Calibri"/>
              <a:sym typeface="Calibri"/>
            </a:endParaRPr>
          </a:p>
          <a:p>
            <a:pPr indent="0" lvl="0" marL="0" rtl="0" algn="l">
              <a:spcBef>
                <a:spcPts val="1200"/>
              </a:spcBef>
              <a:spcAft>
                <a:spcPts val="1200"/>
              </a:spcAft>
              <a:buNone/>
            </a:pPr>
            <a:r>
              <a:t/>
            </a:r>
            <a:endParaRPr>
              <a:latin typeface="Open Sans"/>
              <a:ea typeface="Open Sans"/>
              <a:cs typeface="Open Sans"/>
              <a:sym typeface="Open Sans"/>
            </a:endParaRPr>
          </a:p>
        </p:txBody>
      </p:sp>
      <p:sp>
        <p:nvSpPr>
          <p:cNvPr id="136" name="Google Shape;136;p27"/>
          <p:cNvSpPr/>
          <p:nvPr/>
        </p:nvSpPr>
        <p:spPr>
          <a:xfrm>
            <a:off x="354300" y="1418450"/>
            <a:ext cx="4550700" cy="3072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&lt;visualization&gt;</a:t>
            </a:r>
            <a:endParaRPr/>
          </a:p>
        </p:txBody>
      </p:sp>
      <p:sp>
        <p:nvSpPr>
          <p:cNvPr id="137" name="Google Shape;137;p27"/>
          <p:cNvSpPr txBox="1"/>
          <p:nvPr>
            <p:ph type="title"/>
          </p:nvPr>
        </p:nvSpPr>
        <p:spPr>
          <a:xfrm>
            <a:off x="0" y="0"/>
            <a:ext cx="9144000" cy="795600"/>
          </a:xfrm>
          <a:prstGeom prst="rect">
            <a:avLst/>
          </a:prstGeom>
          <a:solidFill>
            <a:srgbClr val="073763"/>
          </a:solidFill>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solidFill>
                  <a:srgbClr val="FFFFFF"/>
                </a:solidFill>
                <a:latin typeface="Open Sans"/>
                <a:ea typeface="Open Sans"/>
                <a:cs typeface="Open Sans"/>
                <a:sym typeface="Open Sans"/>
              </a:rPr>
              <a:t>  </a:t>
            </a:r>
            <a:r>
              <a:rPr b="1" lang="en" sz="2222">
                <a:solidFill>
                  <a:schemeClr val="lt1"/>
                </a:solidFill>
                <a:latin typeface="Calibri"/>
                <a:ea typeface="Calibri"/>
                <a:cs typeface="Calibri"/>
                <a:sym typeface="Calibri"/>
              </a:rPr>
              <a:t>How do family-friendly movie categories compare across rental duration quartiles?</a:t>
            </a:r>
            <a:endParaRPr>
              <a:solidFill>
                <a:srgbClr val="FFFFFF"/>
              </a:solidFill>
              <a:latin typeface="Open Sans"/>
              <a:ea typeface="Open Sans"/>
              <a:cs typeface="Open Sans"/>
              <a:sym typeface="Open Sans"/>
            </a:endParaRPr>
          </a:p>
        </p:txBody>
      </p:sp>
      <p:pic>
        <p:nvPicPr>
          <p:cNvPr id="138" name="Google Shape;138;p27" title="Rental length category"/>
          <p:cNvPicPr preferRelativeResize="0"/>
          <p:nvPr/>
        </p:nvPicPr>
        <p:blipFill>
          <a:blip r:embed="rId3">
            <a:alphaModFix/>
          </a:blip>
          <a:stretch>
            <a:fillRect/>
          </a:stretch>
        </p:blipFill>
        <p:spPr>
          <a:xfrm>
            <a:off x="125625" y="1122700"/>
            <a:ext cx="5975199" cy="37858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8"/>
          <p:cNvSpPr txBox="1"/>
          <p:nvPr>
            <p:ph idx="1" type="body"/>
          </p:nvPr>
        </p:nvSpPr>
        <p:spPr>
          <a:xfrm>
            <a:off x="6579500" y="1079175"/>
            <a:ext cx="2169900" cy="3629100"/>
          </a:xfrm>
          <a:prstGeom prst="rect">
            <a:avLst/>
          </a:prstGeom>
          <a:solidFill>
            <a:srgbClr val="EFEFEF"/>
          </a:solidFill>
          <a:ln cap="flat" cmpd="sng" w="9525">
            <a:solidFill>
              <a:srgbClr val="99999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en">
                <a:solidFill>
                  <a:schemeClr val="dk1"/>
                </a:solidFill>
                <a:latin typeface="Calibri"/>
                <a:ea typeface="Calibri"/>
                <a:cs typeface="Calibri"/>
                <a:sym typeface="Calibri"/>
              </a:rPr>
              <a:t>The chart shows that both stores follow similar monthly rental patterns, but Store 2 consistently fulfills slightly more rental orders than Store 1 in most months. This indicates comparable performance overall, with Store 2 maintaining a small but steady lead in total rentals.</a:t>
            </a:r>
            <a:endParaRPr b="1">
              <a:solidFill>
                <a:schemeClr val="dk1"/>
              </a:solidFill>
              <a:latin typeface="Calibri"/>
              <a:ea typeface="Calibri"/>
              <a:cs typeface="Calibri"/>
              <a:sym typeface="Calibri"/>
            </a:endParaRPr>
          </a:p>
          <a:p>
            <a:pPr indent="0" lvl="0" marL="0" rtl="0" algn="l">
              <a:spcBef>
                <a:spcPts val="1200"/>
              </a:spcBef>
              <a:spcAft>
                <a:spcPts val="1600"/>
              </a:spcAft>
              <a:buNone/>
            </a:pPr>
            <a:r>
              <a:t/>
            </a:r>
            <a:endParaRPr>
              <a:latin typeface="Open Sans"/>
              <a:ea typeface="Open Sans"/>
              <a:cs typeface="Open Sans"/>
              <a:sym typeface="Open Sans"/>
            </a:endParaRPr>
          </a:p>
        </p:txBody>
      </p:sp>
      <p:sp>
        <p:nvSpPr>
          <p:cNvPr id="144" name="Google Shape;144;p28"/>
          <p:cNvSpPr/>
          <p:nvPr/>
        </p:nvSpPr>
        <p:spPr>
          <a:xfrm>
            <a:off x="354300" y="1418450"/>
            <a:ext cx="4550700" cy="3072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&lt;visualization&gt;</a:t>
            </a:r>
            <a:endParaRPr/>
          </a:p>
        </p:txBody>
      </p:sp>
      <p:sp>
        <p:nvSpPr>
          <p:cNvPr id="145" name="Google Shape;145;p28"/>
          <p:cNvSpPr txBox="1"/>
          <p:nvPr>
            <p:ph type="title"/>
          </p:nvPr>
        </p:nvSpPr>
        <p:spPr>
          <a:xfrm>
            <a:off x="0" y="0"/>
            <a:ext cx="9144000" cy="795600"/>
          </a:xfrm>
          <a:prstGeom prst="rect">
            <a:avLst/>
          </a:prstGeom>
          <a:solidFill>
            <a:srgbClr val="073763"/>
          </a:solidFill>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Open Sans"/>
                <a:ea typeface="Open Sans"/>
                <a:cs typeface="Open Sans"/>
                <a:sym typeface="Open Sans"/>
              </a:rPr>
              <a:t>  </a:t>
            </a:r>
            <a:r>
              <a:rPr b="1" lang="en" sz="1900">
                <a:solidFill>
                  <a:schemeClr val="lt1"/>
                </a:solidFill>
                <a:latin typeface="Calibri"/>
                <a:ea typeface="Calibri"/>
                <a:cs typeface="Calibri"/>
                <a:sym typeface="Calibri"/>
              </a:rPr>
              <a:t>How do the two stores compare in the number of rental orders they fulfill each month?</a:t>
            </a:r>
            <a:endParaRPr sz="1900">
              <a:solidFill>
                <a:schemeClr val="lt1"/>
              </a:solidFill>
              <a:latin typeface="Calibri"/>
              <a:ea typeface="Calibri"/>
              <a:cs typeface="Calibri"/>
              <a:sym typeface="Calibri"/>
            </a:endParaRPr>
          </a:p>
        </p:txBody>
      </p:sp>
      <p:pic>
        <p:nvPicPr>
          <p:cNvPr id="146" name="Google Shape;146;p28" title="1 and 2"/>
          <p:cNvPicPr preferRelativeResize="0"/>
          <p:nvPr/>
        </p:nvPicPr>
        <p:blipFill>
          <a:blip r:embed="rId3">
            <a:alphaModFix/>
          </a:blip>
          <a:stretch>
            <a:fillRect/>
          </a:stretch>
        </p:blipFill>
        <p:spPr>
          <a:xfrm>
            <a:off x="234975" y="1079175"/>
            <a:ext cx="5813649" cy="36291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